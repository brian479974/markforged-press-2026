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NVIDIA GTC 2026 KEYNOTE</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NVIDIA GTC 2026 主題演講戰略簡報 — Markforged 製造業視角</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Jensen Huang Keynote | March 16, 2026 | SAP Center, San Jose, CA
黃仁勳主題演講 | 2026年3月16日 | 加州聖荷西SAP中心
► $1 Trillion in Blackwell + Vera Rubin orders projected by end of 2027
► 1兆美元 Blackwell + Vera Rubin 晶片訂單預測（截至2027年底）
► 30,000+ Attendees | ~$4.5T Market Cap
► 超過3萬名與會者 | 市值約4.5兆美元
Strategic Brief for Markforged Leadership
Markforged 領導層戰略簡報</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AGENDA — What We Cover Today</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議程 — 今日涵蓋重點</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01  Vera Rubin Supercomputer Platform        威拉·魯賓超級電腦平台
02  Groq 3 LPU &amp; LPX Rack                   Groq 3語言處理器與機架
03  Vera CPUs &amp; Kyber Architecture           Vera CPU與Kyber架構
04  NemoClaw — Enterprise AI Agent Stack     NemoClaw企業AI代理
05  Nemotron 3 Model Family                  Nemotron 3模型家族
06  GR00T N2 — Physical AI &amp; Robotics        GR00T N2物理AI與機器人
07  DLSS 5 — Neural Rendering                DLSS 5神經渲染
08  Automotive &amp; Autonomous Vehicles         汽車與自動駕駛
09  Space Computing                          太空運算
10  Financial Highlights                     財務亮點
11  Markforged Strategic Implications        對Markforged的戰略意義</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EXECUTIVE SUMMARY — The AI Infrastructure Era</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執行摘要 — AI基礎設施時代</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 The agentic AI inflection point has arrived — AI shifting from chatbots to autonomous agents
  AI代理拐點已至——從聊天機器人轉向自主代理
● NVIDIA positioned as the full-stack AI platform: chips + software + networking + models
  NVIDIA定位為全棧AI平台：晶片 + 軟體 + 網路 + 模型
● Vera Rubin: 10x performance/watt vs Grace Blackwell — energy efficiency is the key battleground
  Vera Rubin：每瓦效能是Grace Blackwell的10倍——能源效率是關鍵戰場
● Physical AI (robotics, autonomous vehicles, space) is NVIDIA's next trillion-dollar frontier
  物理AI（機器人、自動駕駛、太空）是NVIDIA下一個兆美元前沿
● $1T order book through 2027 validates AI infrastructure supercycle
  2027年前1兆美元訂單印證AI基礎設施超級週期</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VERA RUBIN — A Generational Leap</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Vera Rubin — 劃時代的躍進</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"Vera Rubin is a generational leap — seven breakthrough chips, five racks,
 one giant supercomputer — built to power every phase of AI."  — Jensen Huang
7 Chips / 7款晶片:
  • Vera Rubin NVL72 GPU Racks  • Groq 3 LPU  • Vera CPUs
  • BlueField-4 STX Storage  • Spectrum-6 SPX Ethernet
  • NVLink 6 Switch  • ConnectX-9 SuperNIC
Key Metrics / 關鍵指標:
  ✦ 10x performance per watt vs Grace Blackwell
  ✦ 1/4 GPUs to train same MoE models
  ✦ 10x higher inference throughput per watt
  ✦ 1/10 cost per token
  ✦ Ships later in 2026</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4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VERA RUBIN — System Architecture Deep Dive</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Vera Rubin — 系統架構深度解析</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NVL72 GPU Racks  →  Core compute fabric for AI training &amp; inference
NVL72 GPU機架  →  AI訓練與推理的核心運算架構
BlueField-4 STX Storage  →  AI-native shared storage layer extending GPU memory
BlueField-4 STX儲存  →  AI原生共享儲存層，擴展GPU記憶體
Spectrum-6 SPX Ethernet  →  High-bandwidth cluster networking fabric
Spectrum-6 SPX乙太網  →  高頻寬叢集網路架構
NVLink 6 Switch  →  Ultra-high bandwidth GPU interconnect
NVLink 6交換器  →  超高頻寬GPU互連
ConnectX-9 SuperNIC  →  Offloads networking, storage, security workloads
ConnectX-9 SuperNIC  →  卸載網路、儲存、安全工作負載</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5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GROQ 3 LPU — NVIDIA's Biggest Acquisition Pays Off</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Groq 3 LPU — NVIDIA史上最大收購案成果</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Origin / 背景:
  • $20B acquisition of Groq (December 2025) — NVIDIA's largest deal ever
  • 200億美元收購Groq（2025年12月）——NVIDIA史上最大並購
  • Created by Google TPU engineers; specialized for inference
Groq 3 LPU Features / 特色:
  • Language Processing Unit optimized for AI inference
  • Integrates Groq's specialized core with NVIDIA GPU acceleration
  • Combines HIGH THROUGHPUT (GPU) + LOW LATENCY (LPU) in one system
  • Expected to ship Q3 2026  預計2026年Q3出貨
LPX Rack / LPX機架:
  • 256 LPUs per rack  每機架256個LPU
  • 35x tokens per watt improvement on Rubin GPUs  每瓦token效能提升35倍
  • 1 million-token context window  百萬token上下文視窗
  • Fully liquid cooled  全液冷設計</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6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VERA CPUs — Intelligence at Rack Scale</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Vera CPU — 機架級智能運算</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Performance vs Traditional CPUs / 與傳統CPU比較:
  ✦ 50% faster / 速度快50%
  ✦ 2x energy efficiency / 能源效率提升2倍
Rack Configuration / 機架配置:
  • 256 liquid-cooled Vera CPUs per rack
  • 256個液冷Vera CPU每機架
  • 22,500+ concurrent CPU environments
  • 支援22,500個以上並發CPU環境
Key Use Cases / 主要應用:
  • Coding assistants  程式碼助理
  • Consumer and enterprise AI agents  消費與企業AI代理
  • Tens of thousands of simultaneous agent instances  數萬個並發代理實例
Availability H2 2026 / 2026年下半年上市:
  Alibaba, ByteDance, Cloudflare, Oracle
  ASUS, Cisco, Dell, Foxconn, Lenovo</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7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KYBER — The Architecture After Rubin</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Kyber — Rubin之後的下一代架構</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NVIDIA's Next-Generation Rack Architecture Preview
NVIDIA下一代機架架構預覽
Key Innovation / 主要創新:
  ► 144 GPUs integrated in VERTICAL compute trays
    144個GPU垂直排列（vs 傳統水平排列）
  ► Higher density + lower latency vs horizontal layout
    更高密度 + 更低延遲
  ► Part of Vera Rubin Ultra system
    Vera Rubin Ultra系統的核心組件
Timeline / 時間線:
  • Vera Rubin → 2026
  • Vera Rubin Ultra (with Kyber) → 2027
  • Kyber preview shown at GTC 2026 as prototype
    GTC 2026以原型機形式展示Kyber</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8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NEMOCLAW — Making AI Agents Enterprise-Ready</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NemoClaw — 讓AI代理進入企業環境</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Background / 背景:
  • OpenClaw: Open-source AI agent platform (launched Jan 2026 by Peter Steinberger)
    OpenClaw：開源AI代理平台（Peter Steinberger於2026年1月創立）
  • Steinberger joined OpenAI (Feb 2026); OpenClaw → OpenAI foundation project
    Steinberger加入OpenAI，OpenClaw成為OpenAI基金會專案
The Problem / 問題所在:
  • AI agents need access to all data/systems to function as true assistants
    AI代理需要存取全部資料才能作為真正的助理
  • Concerns about agents going rogue, tampering with/deleting files
    擔憂代理失控、篡改或刪除重要檔案
NemoClaw Solution / NemoClaw解決方案:
  • Contained virtual environment for enterprise-safe agent execution
    受控虛擬環境確保企業安全
  • Self-certified agent framework  自認證代理框架
  • Reference stack for production AI agents  生產環境AI代理參考架構</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9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NEMOCLAW — Technical Architecture</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NemoClaw — 技術架構</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"It finds OpenClaw, it downloads it. It builds you an AI agent."  — Jensen Huang
Components / 組件:
  • Isolation layer: Contained VM environments per agent
    隔離層：每個代理獨立的VM環境
  • Permission framework: Granular access control
    權限框架：細粒度存取控制
  • Audit trail: Full logging of agent actions
    審計追蹤：完整的代理行為記錄
  • Rollback protection: Preventing unintended data changes
    回滾保護：防止意外資料變更
Partners / 合作夥伴:
  • Built with OpenClaw developer community
  • Kari Briski (NVIDIA VP Gen AI Enterprise) leading initiative
  • Working with Peter Steinberger's foundation for certification
Impact: AI agents go from experimental → enterprise production
影響：AI代理從實驗性 → 企業級生產環境</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10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NEMOTRON 3 — Open-Weight AI Model Family</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Nemotron 3 — 開放權重AI模型家族</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NVIDIA's Strategy: Open models + NVIDIA hardware = developer lock-in
NVIDIA策略：開放模型 + NVIDIA硬體 = 開發者生態系綁定
Three Models / 三款模型:
🧠 Nemotron 3 ULTRA
   Natural conversation + complex reasoning + advanced vision
   自然對話 + 複雜推理 + 進階視覺能力
   5x throughput efficiency | Trained on Blackwell GPUs
👁  Nemotron 3 OMNI
   Extract insights from videos and documents | 從影片和文件提取洞見
🎤 Nemotron 3 VOICECHAT
   Real-time voice AI agents | 即時語音AI代理
Availability: GitHub, Hugging Face, NIM microservices, build.nvidia.com</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11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NEMOTRON-PERSONAS — Synthetic Data for AI Training</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Nemotron-Personas — AI訓練用合成資料集</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What It Is / 是什麼:
  • Collection of privacy-preserving, fully synthetic datasets
    隱私保護的全合成資料集合
  • Grounded in local census and demographic data
    基於本地人口普查和人口統計資料
Why It Matters / 為何重要:
  ► Enables training AI on realistic human behavior patterns
    使AI能夠基於真實人類行為模式進行訓練
  ► No privacy violations — purely synthetic
    無隱私侵犯——純合成資料
  ► Local/regional customization for diverse markets
    可針對不同市場進行本地化定制
Use Cases / 應用場景:
  • Training enterprise chatbots with realistic customer personas
  • Testing AI systems against diverse user populations
  • Building localized AI products for global markets
  • 訓練具備真實客戶人格的企業聊天機器人
  • 針對多元化用戶群體測試AI系統</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12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GR00T N2 — Physical AI &amp; Robotic Intelligence</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GR00T N2 — 物理AI與機器人智能</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Foundational AI model for robotic systems
機器人系統的基礎AI模型
Performance Benchmarks / 效能基準:
  ✦ 2x better success rate on new tasks in new environments
    在全新環境完成全新任務的成功率提升2倍
  ✦ #1 on MolmoSpaces benchmark
  ✦ #1 on RoboArena for generalist robot policies
    廣義機器人策略排名第一
Model Type: Vision-Language-Action (VLA)
模型類型：視覺-語言-動作（VLA）
Availability: End of 2026  上市時間：2026年底
Manufacturing Relevance / 製造業相關性:
  → Factory robots that adapt to new assembly tasks without reprogramming
    無需重新編程即可適應新組裝任務的工廠機器人
  → Quality inspection with visual understanding
    具備視覺理解的品質檢測</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13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GR00T N2 — Manufacturing &amp; Factory Automation</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GR00T N2 — 製造業與工廠自動化</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How GR00T N2 Transforms Manufacturing / 如何改變製造業:
Before GR00T N2 / 之前:
  • Robots require extensive reprogramming for each new task
    每個新任務需要大量重新編程
  • Inflexible production lines  生產線缺乏彈性
  • High cost to change manufacturing configurations
    更改製造配置成本高昂
After GR00T N2 / 之後:
  • Robots learn new tasks from demonstration  機器人從示範中學習新任務
  • Generalist policies across object types  跨物件類型的通用策略
  • Natural language task specification  自然語言任務規格
Markforged Opportunity / Markforged機會:
  ▶ Integrate GR00T N2 into post-print quality inspection workflows
    將GR00T N2整合至列印後品質檢測工作流程
  ▶ Enable adaptive robotic handling of printed parts
    實現對列印零件的自適應機器人處理</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14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DLSS 5 — The Future of Neural Rendering</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DLSS 5 — 神經渲染的未來</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"NVIDIA's most significant breakthrough in computer graphics since DLSS debuted in 2018"
NVIDIA自2018年DLSS首次亮相以來最重大的電腦圖形突破
How It Works / 運作原理:
  INPUT:  Game's color and motion vectors for each frame
          遊戲每幀的顏色和運動向量
  OUTPUT: Photoreal lighting and materials at up to 4K
          逼真的光照和材質（最高4K解析度）
Key Feature: Frame-to-frame consistency anchored to 3D source content
關鍵特色：基於3D源內容的逐幀一致性
Ships: Fall 2026  上市：2026年秋季
Supported titles: Assassin's Creed Shadows, Hogwarts Legacy, Delta Force...
Publishers: Bethesda, CAPCOM, Ubisoft, Warner Bros, Tencent, NetEase
Previous: DLSS 4.5 drew 23 of every 24 pixels using AI
前代：DLSS 4.5使用AI繪製每24個像素中的23個</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15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AUTOMOTIVE — Autonomous Vehicle Revolution</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汽車 — 自動駕駛車輛革命</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 Drive AV Platform / NVIDIA Drive AV平台:
🚗 Uber Partnership / Uber合作:
   • NVIDIA Drive AV-powered fleet  NVIDIA Drive AV驅動車隊
   • 28 cities across 4 continents by 2028  2028年前4大洲28個城市
   • Starting: Los Angeles + San Francisco (2027)  從洛杉磯和舊金山開始
🚘 Level 4 Autonomous Vehicles (Drive Hyperion) / L4自駕車:
   Building Level 4 AVs / 建造L4自駕車:
   • Nissan 日產  • BYD 比亞迪  • Geely 吉利
   • Isuzu 五十鈴  • Hyundai 現代汽車
🚌 Autonomous Buses / 自動駕駛公車:
   • Isuzu + China's Tier IV
   • Built on NVIDIA AGX Thor chip  基於NVIDIA AGX Thor晶片
Computing Platform: NVIDIA Drive Hyperion  運算平台：NVIDIA Drive Hyperion</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16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VERA RUBIN SPACE-1 — AI in Orbit</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Vera Rubin Space-1 — 軌道AI基礎設施</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 extends AI computing to orbital data centers
NVIDIA將AI運算延伸至軌道資料中心
Vera Rubin Space-1 Module Components / 模組組件:
  • IGX Thor module  — Edge AI processing
  • Jetson Orin module — Efficient robotics computing
  Both: Engineered for size-, weight-, power-constrained space environments
  兩者均針對太空的尺寸、重量、功耗限制進行工程設計
Partners / 合作夥伴:
  • Starcloud  • Axiom Space  • Planet
  Deploying AI infrastructure in Earth-orbiting satellites
  在地球軌道衛星部署AI基礎設施
Engineering Challenges / 工程挑戰:
  • Radiation hardening  輻射硬化
  • No convection cooling  無對流冷卻
  • Weight and power constraints  重量和功耗限制
Vision: Processing satellite imagery with AI at the source
願景：在源頭對衛星影像進行AI處理</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17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FINANCIAL HIGHLIGHTS — The Numbers That Matter</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財務亮點 — 關鍵數字</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 Today / NVIDIA現狀:
  ● Market Cap: ~$4.5 TRILLION  市值：約4.5兆美元
  ● World's most valuable public company  全球市值最高上市公司
Revenue Performance / 營收表現:
  ● Q1 2026 Guidance: ~$78B (+77% YoY)  Q1 2026指引：約780億美元（年增77%）
  ● 11 consecutive quarters of &gt;55% revenue growth
    連續11季營收成長超過55%
Forward Projections / 前瞻預測:
  ● $1 TRILLION in Blackwell + Vera Rubin orders by end of 2027
    2027年底前Blackwell + Vera Rubin訂單達1兆美元
  ● Previous estimate: $500B (now doubled)  之前預估：5,000億美元（現翻倍）
M&amp;A / 併購:
  ● Groq acquisition: $20B (largest in NVIDIA history)
    收購Groq：200億美元（NVIDIA史上最大並購）</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18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AI MEGA-TRENDS — The Forces Reshaping Computing</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AI大趨勢 — 重塑運算的驅動力</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1. AGENTIC AI ERA / AI代理時代
   Shift: Chatbots → Autonomous multi-agent systems
   Tokens generated per day: Exploding exponentially
   每日生成token數量呈指數級爆炸性增長
2. PHYSICAL AI / 物理AI
   AI leaving the cloud → entering the physical world
   Robots, vehicles, satellites, factories
   AI從雲端走向物理世界：機器人、車輛、衛星、工廠
3. INFERENCE EXPLOSION / 推理爆炸
   Training was the bottleneck → now inference at scale
   Need for fast, cheap token generation (Groq 3 LPU solves this)
   推理成為新瓶頸，需要快速低成本的token生成
4. ENERGY EFFICIENCY RACE / 能源效率競賽
   10x performance/watt is the key competitive dimension
   每瓦效能10倍提升是核心競爭維度</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19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NVIDIA'S FULL-STACK AI PLATFORM STRATEGY</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NVIDIA全棧AI平台戰略</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Layer 7: Applications &amp; Agents  應用與代理
         OpenClaw / NemoClaw / Nemotron Models
Layer 6: Software &amp; Frameworks  軟體與框架
         CUDA / NIM / NemoClaw Reference Stack
Layer 5: Models  模型
         Nemotron 3 Ultra/Omni/VoiceChat / GR00T N2
Layer 4: Networking  網路
         NVLink 6 / ConnectX-9 / Spectrum-6
Layer 3: Storage  儲存
         BlueField-4 STX
Layer 2: CPU  中央處理器
         Vera CPUs
Layer 1: GPU/LPU  圖形/語言處理器
         Vera Rubin NVL72 / Groq 3 LPU</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20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MARKFORGED STRATEGIC IMPLICATIONS — Overview</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對Markforged的戰略意義 — 總覽</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GTC 2026 has direct implications for Markforged's competitive position
GTC 2026對Markforged的競爭地位有直接影響
KEY AREAS OF IMPACT / 主要影響領域:
  1. Factory Automation AI  工廠自動化AI
     → GR00T N2 enables adaptive robotic manufacturing
  2. AI-Enhanced Product Features  AI增強產品功能
     → Cheaper inference enables more embedded AI
  3. Competitive Landscape  競爭格局
     → Competitors building on NVIDIA stack gaining AI capabilities
  4. Digital Manufacturing Simulation  數位製造模擬
     → nvQSP approach parallels additive manufacturing simulation
  5. Edge AI in Factories  工廠邊緣AI
     → 10x efficiency enables practical factory-floor deployment</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21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MARKFORGED × GR00T N2 — Robotic Manufacturing Integration</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Markforged × GR00T N2 — 機器人製造整合</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Opportunity: Integrate GR00T N2 into Markforged manufacturing ecosystem
機會：將GR00T N2整合至Markforged製造生態系統
Use Case 1 / 應用場景一: Post-Print Inspection
  • GR00T N2 robot arm visually inspects printed metal/composite parts
  • Detects defects, surface quality issues, dimensional accuracy
  • GR00T N2機器臂視覺檢測列印金屬/複合材料零件
Use Case 2 / 應用場景二: Adaptive Part Handling
  • Robotic system handles varied part geometries without reprogramming
  • 機器人系統無需重新編程即可處理各種零件幾何形狀
Use Case 3 / 應用場景三: Autonomous Quality Control
  • AI-driven QC feedback loop to printer settings
  • AI驅動的品質控制反饋迴路連接至印表機設定
Timeline: GR00T N2 available end of 2026
時間線：GR00T N2於2026年底上市</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22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MARKFORGED × INFERENCE ECONOMICS — AI Feature Viability</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Markforged × 推理經濟學 — AI功能可行性</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The Groq 3 LPU + Vera Rubin platform reduces inference cost by 10x
Groq 3 LPU + Vera Rubin平台將推理成本降低10倍
What This Means for Markforged / 對Markforged的意義:
  PREVIOUSLY IMPRACTICAL → NOW VIABLE / 以前不可行 → 現在可行:
  ✓ Real-time AI-assisted print parameter optimization
    即時AI輔助列印參數優化
  ✓ Continuous AI monitoring of print quality (video inference)
    連續AI監控列印品質（影片推理）
  ✓ AI-powered design-for-manufacturing suggestions
    AI驅動的可製造性設計建議
  ✓ Predictive maintenance on printer fleets
    印表機群的預測性維護
Action Item: Evaluate Nemotron 3 Omni for video-based print monitoring
行動項目：評估Nemotron 3 Omni用於基於影片的列印監控</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23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COMPETITIVE LANDSCAPE — AI-Native Manufacturing</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競爭格局 — AI原生製造業</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Threat: Competitors integrating NVIDIA AI stack into manufacturing products
威脅：競爭對手將NVIDIA AI技術棧整合至製造產品中
Observed Trends / 觀察趨勢:
  • Industrial automation companies partnering with NVIDIA on Jetson/IGX
    工業自動化公司與NVIDIA合作使用Jetson/IGX
  • Traditional CNC/robotic companies adding AI vision
    傳統CNC/機器人公司增加AI視覺
  • Digital twin platforms using NVIDIA Omniverse
    數位孿生平台使用NVIDIA Omniverse
Markforged's Risk / Markforged的風險:
  ⚠ If competitors integrate GR00T N2 before Markforged,
    they may offer autonomous quality control as a standard feature
    若競爭對手先整合GR00T N2，可能將自主品控作為標準功能
Markforged's Advantage / Markforged的優勢:
  ★ Deep materials + process expertise that pure AI cannot replace
    深厚的材料+製程專業知識，純AI無法取代
  ★ Existing customer base and trust in precision manufacturing
    現有客戶基礎和精密製造領域的信任</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24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AGENTIC AI — Manufacturing Workflows of Tomorrow</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AI代理 — 未來的製造工作流程</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The Agentic AI Shift: AI agents autonomously complete complex multi-step tasks
AI代理轉變：AI代理自主完成複雜的多步驟任務
Markforged Agentic AI Vision / Markforged AI代理願景:
  Scenario: Engineer uploads CAD file →
  情境：工程師上傳CAD檔案 →
  Agent 1: Analyzes geometry → recommends print orientation
  代理1：分析幾何形狀 → 建議列印方向
  Agent 2: Runs FEA simulation → validates structural integrity
  代理2：執行有限元分析 → 驗證結構完整性
  Agent 3: Selects optimal material based on application requirements
  代理3：根據應用需求選擇最佳材料
  Agent 4: Schedules printer, orders materials, tracks job
  代理4：排程印表機、訂購材料、追蹤工作
  Result: Fully automated part-to-print pipeline
  結果：全自動從零件到列印的管道
Enabled by: NemoClaw (safe agents) + Nemotron 3 Ultra (reasoning)
實現基礎：NemoClaw（安全代理）+ Nemotron 3 Ultra（推理）</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25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DIGITAL MANUFACTURING SIM — The nvQSP Parallel</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數位製造模擬 — nvQSP的啟示</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nvQSP: GPU-accelerated pharmaceutical simulation (77x faster than CPU)
nvQSP：GPU加速製藥模擬（比CPU快77倍）
The Parallel for Additive Manufacturing / 對積層製造的啟示:
  Pharma: Simulate hundreds of dose levels before clinical trials
  製藥：臨床試驗前模擬數百種劑量水平
  Manufacturing: Simulate hundreds of print parameter combinations
  製造業：模擬數百種列印參數組合
  before committing to material and time-intensive printing
  在投入材料和時間密集型列印之前
Opportunity for Markforged:
Markforged的機會:
  ▶ Build GPU-accelerated print simulation for composite/metal printing
    建立複合材料/金屬列印的GPU加速模擬
  ▶ Predict mechanical properties before printing
    在列印前預測機械性能
  ▶ Reduce material waste and failed prints by 50%+
    減少50%以上的材料浪費和列印失敗</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26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ENERGY EFFICIENCY — The Strategic Differentiator</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能源效率 — 戰略差異化因素</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NVIDIA's #1 message at GTC 2026: 10x performance per watt
GTC 2026最核心訊息：每瓦效能提升10倍
Why This Matters to Industrial AI / 為何對工業AI重要:
  Factory Floor Reality / 工廠現實:
  • Factories have limited power infrastructure
    工廠的電力基礎設施有限
  • High-performance computing = high heat = cooling challenges
    高效能運算 = 高熱量 = 冷卻挑戰
  • Edge AI must run on available power budgets
    邊緣AI必須在可用電力預算內運行
  Impact / 影響:
  ✓ 10x efficiency → AI monitoring systems become factory-practical
    10倍效率 → AI監控系統在工廠環境變得實用
  ✓ Jetson Orin / IGX Thor → embedded AI in Markforged printers
    在Markforged印表機中嵌入AI
  ✓ Reduced TCO for AI-enhanced manufacturing products
    降低AI增強製造產品的總擁有成本</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27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OPEN MODELS STRATEGY — Implications for Enterprise AI</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開放模型戰略 — 對企業AI的影響</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NVIDIA's Move: Release Nemotron 3 family as open-weight models
NVIDIA的動作：將Nemotron 3系列作為開放權重模型發布
Available on: GitHub, Hugging Face, NIM microservices
可在GitHub、Hugging Face、NIM微服務上取得
Why NVIDIA Does This / NVIDIA為何這樣做:
  ► Drive GPU adoption — models run best on NVIDIA hardware
    推動GPU採用——模型在NVIDIA硬體上運行最佳
  ► Build developer ecosystem loyalty
    建立開發者生態系忠誠度
  ► Counter open-source alternatives (Llama, Mistral)
    對抗開源替代品（Llama, Mistral）
For Markforged / 對Markforged而言:
  ✓ Free access to high-quality AI models for product development
    免費獲取高品質AI模型用於產品開發
  ✓ Nemotron 3 Omni: Ideal for analyzing print quality from video
    Nemotron 3 Omni：非常適合從影片分析列印品質
  ✓ Can fine-tune on Markforged-specific manufacturing data
    可針對Markforged特定製造數據進行微調</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28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STRATEGIC ACTION ITEMS FOR MARKFORGED</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Markforged戰略行動項目</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IMMEDIATE (0-3 months) / 即時（0-3個月）:
  ✦ Evaluate Nemotron 3 Omni for print quality video analysis
    評估Nemotron 3 Omni用於列印品質影片分析
  ✦ Audit current AI spend vs. post-Vera-Rubin cost projections
    審查現有AI支出與Vera Rubin後成本預測
SHORT-TERM (3-12 months) / 短期（3-12個月）:
  ✦ POC: GR00T N2 for post-print robotic inspection
    概念驗證：GR00T N2用於列印後機器人檢測
  ✦ Evaluate NemoClaw for safe enterprise AI agent deployment
    評估NemoClaw用於安全企業AI代理部署
  ✦ Partner with NVIDIA on additive manufacturing simulation
    與NVIDIA合作推進積層製造模擬
LONG-TERM (12+ months) / 長期（12個月以上）:
  ✦ Build Markforged AI agent platform on NemoClaw reference stack
    在NemoClaw參考架構上建立Markforged AI代理平台
  ✦ Develop proprietary manufacturing simulation on GPU stack
    在GPU技術棧上開發專有製造模擬
  ✦ Explore GR00T N2 integration in next-gen printer platforms
    在下一代印表機平台探索GR00T N2整合</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29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BUILDING AI-NATIVE COMPETITIVE MOAT</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建立AI原生競爭護城河</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"The agentic AI inflection point has arrived" — Jensen Huang
Markforged's Path to AI-Native Manufacturing Leadership:
Markforged的AI原生製造領導之路:
DATA MOAT / 數據護城河:
  → Markforged has unique print data no competitor can replicate
    Markforged擁有任何競爭對手都無法複製的獨特列印數據
PROCESS MOAT / 製程護城河:
  → Deep composite + metal FFF expertise + AI = unbeatable combination
    深厚的複合材料+金屬FFF專業知識+AI = 無可匹敵的組合
ECOSYSTEM MOAT / 生態系護城河:
  → Integrate GR00T N2 + Nemotron 3 + NemoClaw into unified platform
    將GR00T N2 + Nemotron 3 + NemoClaw整合成統一平台
VISION: Markforged Digital Forge — AI-first additive manufacturing platform
願景：Markforged數位鍛造廠——AI優先的積層製造平台</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30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JENSEN HUANG'S VISION — The Next Decade of AI</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黃仁勳的願景 — AI的下一個十年</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Key Quotes from GTC 2026 Keynote / GTC 2026主題演講關鍵語錄:
"The agentic AI inflection point has arrived with Vera Rubin
 kicking off the greatest infrastructure buildout in history."
「AI代理的拐點已到來，Vera Rubin開啟了歷史上最大的基礎設施建設。」
"If they could just get more capacity, they could generate more tokens,
 their revenues would go up."
「如果他們能獲得更多算力，就能生成更多token，收益就會增加。」
"We united two processors of extreme differences, one for high throughput,
 one for low latency."
「我們將兩種截然不同的處理器統一起來，一個高吞吐量，一個低延遲。」
"[NemoClaw] It finds OpenClaw, it downloads it. It builds you an AI agent."
「[NemoClaw]它找到OpenClaw，下載它，為你建立一個AI代理。」</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31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THE TOKEN ECONOMY — Why Inference Is the New Oil</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Token經濟 — 為何推理是新石油</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Fundamental Shift in AI Economics / AI經濟的根本性轉變:
ERA 1 (2020-2024): Training was the bottleneck and cost driver
第一時代（2020-2024）：訓練是瓶頸和成本驅動因素
ERA 2 (2025+): Inference at scale is the new frontier
第二時代（2025+）：大規模推理是新前沿
Why This Matters / 為何重要:
  • Every AI agent interaction = thousands of tokens
    每次AI代理互動 = 數千個token
  • Agentic apps spawn sub-agents → exponential token multiplication
    代理應用程式衍生子代理 → token指數級倍增
  • Groq 3 LPU achieves 35x tokens/watt improvement
    Groq 3 LPU實現35倍每瓦token效能提升
Implication for Industrial AI / 對工業AI的啟示:
  → Factory AI agents that monitor 24/7 generate billions of tokens/day
    24/7監控的工廠AI代理每天生成數十億個token
  → Cost must approach zero for widespread industrial adoption
    成本必須趨近零才能實現廣泛工業採用</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32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NVIDIA PRODUCT ROADMAP 2026-2027</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NVIDIA產品路線圖 2026-2027</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H1 2026 / 2026上半年:
  ✓ Vera Rubin NVL72 GPU Racks → Begin shipping
  ✓ Vera CPUs → Available via cloud providers
  ✓ Nemotron 3 family → GitHub/Hugging Face release
H2 2026 / 2026下半年:
  ✓ Groq 3 LPU &amp; LPX Rack → Q3 2026 ship
  ✓ Vera Rubin Space-1 → Orbital deployment begins
  ✓ DLSS 5 → Fall 2026 launch
  ✓ GR00T N2 → End of 2026 availability
2027 / 2027年:
  ✓ Vera Rubin Ultra with Kyber → Rack architecture leap
  ✓ 144-GPU vertical compute trays
  ✓ Uber autonomous fleet → LA + SF launch
  ✓ Level 4 AV from OEM partners → Market entry
Beyond 2027 / 2027年後:
  ◆ Blackwell + Vera Rubin: $1T order fulfillment target</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33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INFERENCE ARCHITECTURE — GPU + LPU Convergence</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推理架構 — GPU + LPU融合</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Traditional Architecture / 傳統架構:
  GPU: High throughput, high memory bandwidth
  GPU：高吞吐量、高記憶體頻寬
  → Excellent for training, but expensive for inference
    非常適合訓練，但推理成本高昂
NVIDIA's New Insight / NVIDIA的新洞見:
  Inference has TWO requirements: 推理有兩個需求:
  1. THROUGHPUT: Processing many requests simultaneously
     吞吐量：同時處理大量請求
  2. LATENCY: Fast response for interactive applications
     延遲：互動應用程式的快速響應
Solution / 解決方案:
  GPU (Vera Rubin NVL72) = High throughput batch processing
  LPU (Groq 3) = Low latency interactive responses
  Combined: 35x tokens/watt | Million-token context
  組合：35倍每瓦token效能 | 百萬token上下文
Result: Inference becomes 10x cheaper, enabling new use cases
結果：推理成本降低10倍，實現新應用場景</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34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PHYSICAL AI ECOSYSTEM — Beyond the Cloud</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物理AI生態系 — 超越雲端</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NVIDIA's Three Pillars of Physical AI / NVIDIA物理AI三大支柱:
🤖 ROBOTS / 機器人:
   GR00T N2 → Universal robot policy model
   AGX Thor → Edge computing for robotics
   Applications: Manufacturing, logistics, healthcare, space
   應用：製造、物流、醫療、太空
🚗 VEHICLES / 車輛:
   Drive AV → Autonomous vehicle software stack
   Drive Hyperion → Full AV compute platform
   Partners: Uber, Nissan, BYD, Geely, Hyundai, Isuzu
🛰 SPACE / 太空:
   Vera Rubin Space-1 → Orbital data center computing
   Jetson Orin + IGX Thor → Space-hardened AI modules
   Partners: Starcloud, Axiom Space, Planet
Common Thread: Physical world needs edge AI, not just cloud AI
共同主題：物理世界需要邊緣AI，而不僅僅是雲端AI</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35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PROPOSED: MARKFORGED AI EVOLUTION ROADMAP</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建議：Markforged AI演進路線圖</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PHASE 1: AI-Assisted (2026) / 第一階段：AI輔助（2026年）
  • Integrate Nemotron 3 Omni for print quality analysis
  • AI-powered print parameter recommendations
  • Predictive maintenance alerts
  整合Nemotron 3 Omni進行列印品質分析、AI列印參數建議、預測性維護警報
PHASE 2: AI-Augmented (2026-2027) / 第二階段：AI增強（2026-2027年）
  • GR00T N2 integration for robotic part handling
  • GPU-accelerated print simulation
  • Agentic manufacturing workflow agents
  GR00T N2整合機器人零件處理、GPU加速列印模擬、代理製造工作流程
PHASE 3: AI-Native (2027+) / 第三階段：AI原生（2027年+）
  • Fully autonomous Digital Forge platform
  • NemoClaw-powered enterprise agent ecosystem
  • Self-optimizing manufacturing processes
  完全自主的數位鍛造廠平台、NemoClaw驅動的企業代理生態系統、自優化製造流程</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36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NVIDIA AI ECOSYSTEM — Who Builds on What</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NVIDIA AI生態系 — 誰在什麼上面構建</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CLOUD PROVIDERS / 雲端提供商:
  Alibaba, ByteDance, Cloudflare, Oracle
  → Deploy Vera CPUs + Rubin GPUs for AI inference at scale
HARDWARE OEMs / 硬體原廠:
  ASUS, Cisco, Dell, Foxconn, Lenovo
  → Build servers with Vera CPUs for enterprise customers
AUTOMOTIVE OEMs / 汽車原廠:
  Nissan, BYD, Geely, Isuzu, Hyundai + Uber
  → Autonomous vehicles on Drive Hyperion + Drive AV
SPACE COMPANIES / 太空公司:
  Starcloud, Axiom Space, Planet
  → Orbital AI computing on Vera Rubin Space-1
AI AGENT ECOSYSTEM / AI代理生態系:
  OpenClaw (OpenAI) + NemoClaw (NVIDIA)
  → Enterprise AI agent infrastructure
TARGET FOR MARKFORGED: Manufacturing AI partner on NVIDIA stack
Markforged目標：成為NVIDIA技術棧上的製造AI合作夥伴</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37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RISKS &amp; CHALLENGES — What Could Go Wrong</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風險與挑戰 — 可能出現的問題</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For NVIDIA / NVIDIA面臨的風險:
  ⚠ Export restrictions on AI chips to China
    對中國AI晶片出口限制
  ⚠ Competition from AMD, Intel, custom silicon (Google TPU, AWS Trainium)
    來自AMD、Intel、定制晶片的競爭
  ⚠ Supply chain constraints limiting $1T order fulfillment
    供應鏈限制影響1兆美元訂單履行
  ⚠ Regulatory scrutiny of market dominance
    市場主導地位的監管審查
For Markforged / Markforged面臨的風險:
  ⚠ AI-native competitors (e.g., Desktop Metal, Essentium) move faster on AI
    AI原生競爭對手在AI上行動更快
  ⚠ High cost of NVIDIA compute for embedded product features
    嵌入式產品功能的NVIDIA運算成本高昂
  ⚠ Talent gap: Insufficient AI/ML engineering capacity
    人才差距：AI/ML工程能力不足
  ⚠ Customer reluctance to adopt AI-driven manufacturing
    客戶對採用AI驅動製造的抵制</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38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nvQSP — GPU-Accelerated Simulation Technology</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nvQSP — GPU加速模擬技術</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 announced nvQSP for pharmaceutical research:
NVIDIA為製藥研究推出nvQSP:
CAPABILITY / 能力:
  • Analyzes hundreds of dose levels + patient sub-populations simultaneously
    同時分析數百種劑量水平和患者子群體
  • 77x faster than traditional single-threaded CPU simulations
    比傳統單線程CPU模擬快77倍
  • Enables what-if exploration before expensive clinical trials
    在昂貴臨床試驗前進行假設探索
THE MANUFACTURING PARALLEL / 製造業類比:
  Pharma: dose levels = Manufacturing: print parameters
  製藥：劑量水平 = 製造：列印參數
  Pharma: patient populations = Manufacturing: material batches
  製藥：患者群體 = 製造：材料批次
  Pharma: clinical trials = Manufacturing: production runs
  製藥：臨床試驗 = 製造：生產運行
Insight: Apply same GPU simulation approach to additive manufacturing
洞見：將同樣的GPU模擬方法應用於積層製造</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39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AI AGENT SAFETY — Critical for Industrial Deployment</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AI代理安全 — 工業部署的關鍵</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The Safety Problem / 安全問題:
  AI agents need access to systems/data to be useful
  BUT unconstrained access creates risk of:
  AI代理需要存取系統/數據才能發揮作用，但不受限制的存取有以下風險:
  • Accidental deletion of critical production data
    意外刪除關鍵生產數據
  • Unintended changes to printer configurations
    意外更改印表機配置
  • Security vulnerabilities in connected factory systems
    連接工廠系統的安全漏洞
NemoClaw's Solution / NemoClaw的解決方案:
  ✓ Contained virtual environments — agents can't escape sandbox
    受控虛擬環境——代理無法逃出沙盒
  ✓ Granular permission framework — least-privilege access
    細粒度權限框架——最小權限原則
  ✓ Full audit trail — every agent action logged
    完整審計追蹤——每個代理行為記錄在案
  ✓ Rollback capability — undo unintended changes
    回滾能力——撤銷意外更改
Relevance: Factory AI requires NemoClaw-class safety guarantees
相關性：工廠AI需要NemoClaw級別的安全保證</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40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INDUSTRY 4.0 × NVIDIA GTC 2026 — Convergence</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工業4.0 × NVIDIA GTC 2026 — 匯聚時刻</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GTC 2026 announcements accelerate Industry 4.0 adoption:
GTC 2026公告加速工業4.0採用:
SMART FACTORIES / 智慧工廠:
  GR00T N2 → Autonomous robotic assembly and inspection
  → 自主機器人組裝和檢測
DIGITAL TWINS / 數位孿生:
  nvQSP approach → GPU-accelerated factory simulation
  → GPU加速工廠模擬
PREDICTIVE ANALYTICS / 預測分析:
  Nemotron 3 Omni → Multi-modal sensor data analysis
  → 多模態感測器數據分析
AUTONOMOUS LOGISTICS / 自主物流:
  Drive AV + GR00T → Material handling robots
  → 物料搬運機器人
CONNECTED MANUFACTURING / 連接製造:
  NemoClaw → Safe enterprise agent orchestration
  → 安全企業代理編排
Bottom Line: Every GTC 2026 announcement has a manufacturing application
結論：每個GTC 2026公告都有製造業應用</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41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PARTNERSHIP OPPORTUNITIES — NVIDIA x MARKFORGED</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合作機會 — NVIDIA × Markforged</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Potential Partnership Vectors / 潛在合作方向:
1. NVIDIA Inception Program
   • NVIDIA's startup/scaleup AI acceleration program
   • Access to hardware credits, technical support, co-marketing
   • NVIDIA的新創/成長企業AI加速計劃
2. Jetson for Industrial AI
   • Embed Jetson Orin in Markforged printers for on-device AI
   • Edge inference for real-time print quality monitoring
   • 在Markforged印表機中嵌入Jetson Orin進行設備端AI
3. GR00T N2 Early Access
   • Partner with NVIDIA to validate GR00T N2 on metal/composite parts
   • Co-develop manufacturing-specific robot policies
   • 與NVIDIA合作驗證GR00T N2在金屬/複合材料零件上的應用
4. Manufacturing AI Reference Architecture
   • Collaborate on NemoClaw-based additive manufacturing agent stack
   • 合作開發基於NemoClaw的積層製造代理架構
Next Step: Request meeting with NVIDIA Industrial AI team at GTC
下一步：在GTC上申請與NVIDIA工業AI團隊會面</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42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AI INVESTMENT THESIS — Building for the Agentic Era</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AI投資論題 — 為AI代理時代而建</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NVIDIA's GTC 2026 confirms: We are at the beginning of the agentic AI era
NVIDIA GTC 2026確認：我們正處於AI代理時代的開端
For Markforged's Board &amp; Investors / 對Markforged董事會和投資者:
  WHY INVEST IN AI NOW / 為何現在投資AI:
  1. Inference cost dropping 10x → AI features become economically viable
     推理成本下降10倍 → AI功能在經濟上變得可行
  2. GR00T N2 creates $B market for manufacturing robotics AI
     GR00T N2為製造業機器人AI創造數十億美元市場
  3. Competitors will integrate AI — first mover gets data advantage
     競爭對手將整合AI——先行者獲得數據優勢
  4. NemoClaw solves enterprise AI safety — removal of key blocker
     NemoClaw解決企業AI安全問題——消除關鍵障礙
  MARKFORGED'S UNIQUE POSITION / Markforged的獨特定位:
  → Only company that combines precision manufacturing + materials science
     + process expertise with potential for deep AI integration
  → 唯一結合精密製造+材料科學+製程專業知識並具備深度AI整合潛力的公司</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43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KEY TAKEAWAYS — GTC 2026 for Markforged Leadership</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關鍵結論 — Markforged領導層的GTC 2026啟示</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1. AI INFRASTRUCTURE SUPERCYCLE IS REAL
   $1T orders validate unprecedented AI capital investment
   1兆美元訂單印證史無前例的AI資本投資
2. PHYSICAL AI IS THE NEXT FRONTIER
   GR00T N2 + Drive AV = AI leaving the cloud, entering factories
   GR00T N2 + Drive AV = AI離開雲端，進入工廠
3. INFERENCE ECONOMICS WILL CHANGE PRODUCT ROADMAPS
   10x cost reduction makes previously impractical AI features viable
   10倍成本降低使之前不切實際的AI功能變得可行
4. ENTERPRISE AI SAFETY IS SOLVED (NemoClaw)
   The key blocker for factory AI deployment is now addressed
   工廠AI部署的關鍵障礙現已解決
5. ACT NOW OR FALL BEHIND
   AI-native manufacturing competitors are already building on NVIDIA stack
   AI原生製造競爭對手已在NVIDIA技術棧上構建
BOTTOM LINE: Markforged must accelerate AI integration strategy
結論：Markforged必須加速AI整合戰略</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44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pPr algn="l"/>
            <a:r>
              <a:rPr sz="3200" b="1">
                <a:solidFill>
                  <a:srgbClr val="FFC500"/>
                </a:solidFill>
                <a:latin typeface="Arial"/>
              </a:rPr>
              <a:t>MARKFORGED × AI — The Future of Manufacturing</a:t>
            </a:r>
          </a:p>
        </p:txBody>
      </p:sp>
      <p:sp>
        <p:nvSpPr>
          <p:cNvPr id="3" name="TextBox 2"/>
          <p:cNvSpPr txBox="1"/>
          <p:nvPr/>
        </p:nvSpPr>
        <p:spPr>
          <a:xfrm>
            <a:off x="548640" y="1005840"/>
            <a:ext cx="11064240" cy="457200"/>
          </a:xfrm>
          <a:prstGeom prst="rect">
            <a:avLst/>
          </a:prstGeom>
          <a:noFill/>
        </p:spPr>
        <p:txBody>
          <a:bodyPr wrap="square">
            <a:spAutoFit/>
          </a:bodyPr>
          <a:lstStyle/>
          <a:p>
            <a:pPr algn="l"/>
            <a:r>
              <a:rPr sz="1800" b="0">
                <a:solidFill>
                  <a:srgbClr val="CCCCCC"/>
                </a:solidFill>
                <a:latin typeface="Arial"/>
              </a:rPr>
              <a:t>Markforged × AI — 製造業的未來</a:t>
            </a:r>
          </a:p>
        </p:txBody>
      </p:sp>
      <p:sp>
        <p:nvSpPr>
          <p:cNvPr id="4" name="Rectangle 3"/>
          <p:cNvSpPr/>
          <p:nvPr/>
        </p:nvSpPr>
        <p:spPr>
          <a:xfrm>
            <a:off x="548640" y="1508760"/>
            <a:ext cx="11064240" cy="25400"/>
          </a:xfrm>
          <a:prstGeom prst="rect">
            <a:avLst/>
          </a:prstGeom>
          <a:solidFill>
            <a:srgbClr val="FFC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64240" cy="4846320"/>
          </a:xfrm>
          <a:prstGeom prst="rect">
            <a:avLst/>
          </a:prstGeom>
          <a:noFill/>
        </p:spPr>
        <p:txBody>
          <a:bodyPr wrap="square">
            <a:spAutoFit/>
          </a:bodyPr>
          <a:lstStyle/>
          <a:p>
            <a:pPr algn="l"/>
            <a:r>
              <a:rPr sz="2000" b="0">
                <a:solidFill>
                  <a:srgbClr val="FFFFFF"/>
                </a:solidFill>
                <a:latin typeface="Arial"/>
              </a:rPr>
              <a:t>"The greatest infrastructure buildout in history has begun."
「歷史上最大的基礎設施建設已經開始。」
                                          — Jensen Huang, GTC 2026
Markforged's Opportunity:
Markforged的機會:
  We build the tools that build the world.
  我們建造建造世界的工具。
  Now, AI builds the intelligence that runs those tools.
  現在，AI建造驅動這些工具的智能。
  The question is not whether to integrate AI.
  問題不是是否要整合AI。
  The question is: How fast can we move?
  問題是：我們能以多快的速度行動？
━━━━━━━━━━━━━━━━━━━━━━━━━━━━━━━━━━━━━━━━━━━━━━━━━━
Source: NVIDIA GTC 2026 Keynote | March 16, 2026
Prepared by CoCo for Markforged Strategic Leadership</a:t>
            </a:r>
          </a:p>
        </p:txBody>
      </p:sp>
      <p:sp>
        <p:nvSpPr>
          <p:cNvPr id="6" name="TextBox 5"/>
          <p:cNvSpPr txBox="1"/>
          <p:nvPr/>
        </p:nvSpPr>
        <p:spPr>
          <a:xfrm>
            <a:off x="10789920" y="6400800"/>
            <a:ext cx="1188720" cy="320040"/>
          </a:xfrm>
          <a:prstGeom prst="rect">
            <a:avLst/>
          </a:prstGeom>
          <a:noFill/>
        </p:spPr>
        <p:txBody>
          <a:bodyPr wrap="square">
            <a:spAutoFit/>
          </a:bodyPr>
          <a:lstStyle/>
          <a:p>
            <a:pPr algn="r"/>
            <a:r>
              <a:rPr sz="1100" b="0">
                <a:solidFill>
                  <a:srgbClr val="888888"/>
                </a:solidFill>
                <a:latin typeface="Arial"/>
              </a:rPr>
              <a:t>45 / 45</a:t>
            </a:r>
          </a:p>
        </p:txBody>
      </p:sp>
      <p:sp>
        <p:nvSpPr>
          <p:cNvPr id="7" name="TextBox 6"/>
          <p:cNvSpPr txBox="1"/>
          <p:nvPr/>
        </p:nvSpPr>
        <p:spPr>
          <a:xfrm>
            <a:off x="457200" y="6400800"/>
            <a:ext cx="2286000" cy="320040"/>
          </a:xfrm>
          <a:prstGeom prst="rect">
            <a:avLst/>
          </a:prstGeom>
          <a:noFill/>
        </p:spPr>
        <p:txBody>
          <a:bodyPr wrap="square">
            <a:spAutoFit/>
          </a:bodyPr>
          <a:lstStyle/>
          <a:p>
            <a:pPr algn="l"/>
            <a:r>
              <a:rPr sz="1000" b="1">
                <a:solidFill>
                  <a:srgbClr val="FFC500"/>
                </a:solidFill>
                <a:latin typeface="Arial"/>
              </a:rPr>
              <a:t>MARKFORGED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